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Plus Jakarta Sans"/>
      <p:bold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7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876776"/>
            <a:ext cx="109728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040385"/>
            <a:ext cx="8572500" cy="466725"/>
          </a:xfrm>
          <a:prstGeom prst="rect">
            <a:avLst/>
          </a:prstGeom>
          <a:solidFill>
            <a:srgbClr val="13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876776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4040385"/>
            <a:ext cx="38100" cy="4667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609600"/>
            <a:ext cx="24169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PROPOSAL TUGAS AKHIR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400" y="609600"/>
            <a:ext cx="36576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Teknik Informatika — Institut Teknologi Indonesia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1" y="1763180"/>
            <a:ext cx="8113775" cy="16542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ID" sz="3600" b="1" i="0" u="none" dirty="0" err="1">
                <a:solidFill>
                  <a:srgbClr val="FFFFFF"/>
                </a:solidFill>
                <a:latin typeface="Plus Jakarta Sans"/>
              </a:rPr>
              <a:t>Perancangan</a:t>
            </a:r>
            <a:r>
              <a:rPr lang="en-ID" sz="3600" b="1" i="0" u="none" dirty="0">
                <a:solidFill>
                  <a:srgbClr val="FFFFFF"/>
                </a:solidFill>
                <a:latin typeface="Plus Jakarta Sans"/>
              </a:rPr>
              <a:t> dan </a:t>
            </a:r>
            <a:r>
              <a:rPr lang="en-ID" sz="3600" b="1" i="0" u="none" dirty="0" err="1">
                <a:solidFill>
                  <a:srgbClr val="FFFFFF"/>
                </a:solidFill>
                <a:latin typeface="Plus Jakarta Sans"/>
              </a:rPr>
              <a:t>Pengembangan</a:t>
            </a:r>
            <a:r>
              <a:rPr lang="en-ID" sz="3600" b="1" i="0" u="none" dirty="0">
                <a:solidFill>
                  <a:srgbClr val="FFFFFF"/>
                </a:solidFill>
                <a:latin typeface="Plus Jakarta Sans"/>
              </a:rPr>
              <a:t> TANGSEL LIA </a:t>
            </a:r>
            <a:r>
              <a:rPr lang="en-ID" sz="3600" b="1" i="0" u="none" dirty="0" err="1">
                <a:solidFill>
                  <a:srgbClr val="FFFFFF"/>
                </a:solidFill>
                <a:latin typeface="Plus Jakarta Sans"/>
              </a:rPr>
              <a:t>sebagai</a:t>
            </a:r>
            <a:r>
              <a:rPr lang="en-ID" sz="3600" b="1" i="0" u="none" dirty="0">
                <a:solidFill>
                  <a:srgbClr val="FFFFFF"/>
                </a:solidFill>
                <a:latin typeface="Plus Jakarta Sans"/>
              </a:rPr>
              <a:t> Platform Digital </a:t>
            </a:r>
            <a:r>
              <a:rPr lang="en-ID" sz="3600" b="1" i="0" u="none" dirty="0" err="1">
                <a:solidFill>
                  <a:srgbClr val="FFFFFF"/>
                </a:solidFill>
                <a:latin typeface="Plus Jakarta Sans"/>
              </a:rPr>
              <a:t>Informasi</a:t>
            </a:r>
            <a:r>
              <a:rPr lang="en-ID" sz="3600" b="1" i="0" u="none" dirty="0">
                <a:solidFill>
                  <a:srgbClr val="FFFFFF"/>
                </a:solidFill>
                <a:latin typeface="Plus Jakarta Sans"/>
              </a:rPr>
              <a:t> dan </a:t>
            </a:r>
            <a:r>
              <a:rPr lang="en-ID" sz="3600" b="1" i="0" u="none" dirty="0" err="1">
                <a:solidFill>
                  <a:srgbClr val="FFFFFF"/>
                </a:solidFill>
                <a:latin typeface="Plus Jakarta Sans"/>
              </a:rPr>
              <a:t>Aktivitas</a:t>
            </a:r>
            <a:r>
              <a:rPr lang="en-ID" sz="3600" b="1" i="0" u="none" dirty="0">
                <a:solidFill>
                  <a:srgbClr val="FFFFFF"/>
                </a:solidFill>
                <a:latin typeface="Plus Jakarta Sans"/>
              </a:rPr>
              <a:t> Masyarakat Tangerang Selatan</a:t>
            </a:r>
            <a:endParaRPr sz="3600" b="1" i="0" u="none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3461295"/>
            <a:ext cx="10715625" cy="293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CBD5E1"/>
                </a:solidFill>
                <a:latin typeface="Plus Jakarta Sans"/>
              </a:rPr>
              <a:t>Platform Digital Informasi dan Aktivitas Masyarakat Tangerang Selatan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076801"/>
            <a:ext cx="51315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Sistem Informasi Terintegrasi Komunitas &amp; Kota Tangerang Selatan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58375" y="6076801"/>
            <a:ext cx="21550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Plus Jakarta Sans"/>
              </a:rPr>
              <a:t>Institut Teknologi Indonesia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F6D4D8B-CC0E-4F6D-B1C6-84D58DBE3DD9}"/>
              </a:ext>
            </a:extLst>
          </p:cNvPr>
          <p:cNvGrpSpPr/>
          <p:nvPr/>
        </p:nvGrpSpPr>
        <p:grpSpPr>
          <a:xfrm>
            <a:off x="609600" y="1270620"/>
            <a:ext cx="2114550" cy="381000"/>
            <a:chOff x="568960" y="1590266"/>
            <a:chExt cx="2114550" cy="381000"/>
          </a:xfrm>
        </p:grpSpPr>
        <p:pic>
          <p:nvPicPr>
            <p:cNvPr id="6" name="Picture 5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8960" y="1590266"/>
              <a:ext cx="381000" cy="381000"/>
            </a:xfrm>
            <a:prstGeom prst="rect">
              <a:avLst/>
            </a:prstGeom>
          </p:spPr>
        </p:pic>
        <p:pic>
          <p:nvPicPr>
            <p:cNvPr id="7" name="Picture 6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8022" y="1685516"/>
              <a:ext cx="142875" cy="19050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1064260" y="1671228"/>
              <a:ext cx="1619250" cy="2190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50" b="1" i="0" u="none" dirty="0">
                  <a:solidFill>
                    <a:srgbClr val="38BDF8"/>
                  </a:solidFill>
                  <a:latin typeface="Plus Jakarta Sans"/>
                </a:rPr>
                <a:t>TANGSEL LIA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876300" y="4154685"/>
            <a:ext cx="100965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Plus Jakarta Sans"/>
              </a:rPr>
              <a:t>“Temukan. Terhubung. Beraktivitas.”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19350"/>
            <a:ext cx="5610225" cy="2905125"/>
          </a:xfrm>
          <a:prstGeom prst="roundRect">
            <a:avLst>
              <a:gd name="adj" fmla="val 52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24625" y="2399407"/>
            <a:ext cx="5057775" cy="1277987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24625" y="3867894"/>
            <a:ext cx="5057775" cy="1476375"/>
          </a:xfrm>
          <a:prstGeom prst="roundRect">
            <a:avLst>
              <a:gd name="adj" fmla="val 1032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5825" y="3067050"/>
            <a:ext cx="2471737" cy="409575"/>
          </a:xfrm>
          <a:prstGeom prst="roundRect">
            <a:avLst>
              <a:gd name="adj" fmla="val 1860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71862" y="3067050"/>
            <a:ext cx="2471737" cy="409575"/>
          </a:xfrm>
          <a:prstGeom prst="roundRect">
            <a:avLst>
              <a:gd name="adj" fmla="val 1860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85825" y="3590925"/>
            <a:ext cx="2471737" cy="409575"/>
          </a:xfrm>
          <a:prstGeom prst="roundRect">
            <a:avLst>
              <a:gd name="adj" fmla="val 1860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71862" y="3590925"/>
            <a:ext cx="2471737" cy="409575"/>
          </a:xfrm>
          <a:prstGeom prst="roundRect">
            <a:avLst>
              <a:gd name="adj" fmla="val 1860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5825" y="4114800"/>
            <a:ext cx="2471737" cy="409575"/>
          </a:xfrm>
          <a:prstGeom prst="roundRect">
            <a:avLst>
              <a:gd name="adj" fmla="val 1860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71862" y="4114800"/>
            <a:ext cx="2471737" cy="409575"/>
          </a:xfrm>
          <a:prstGeom prst="roundRect">
            <a:avLst>
              <a:gd name="adj" fmla="val 1860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85825" y="4638675"/>
            <a:ext cx="2471737" cy="409575"/>
          </a:xfrm>
          <a:prstGeom prst="roundRect">
            <a:avLst>
              <a:gd name="adj" fmla="val 1860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71862" y="4638675"/>
            <a:ext cx="2471737" cy="409575"/>
          </a:xfrm>
          <a:prstGeom prst="roundRect">
            <a:avLst>
              <a:gd name="adj" fmla="val 1860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24625" y="2399407"/>
            <a:ext cx="38100" cy="1277987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719387"/>
            <a:ext cx="19050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3209925"/>
            <a:ext cx="14287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6162" y="3209925"/>
            <a:ext cx="123825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" y="3733800"/>
            <a:ext cx="18097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6162" y="3733800"/>
            <a:ext cx="14287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125" y="4257675"/>
            <a:ext cx="18097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6162" y="4257675"/>
            <a:ext cx="161925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125" y="4781550"/>
            <a:ext cx="180975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86162" y="4781550"/>
            <a:ext cx="142875" cy="1428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01. Latar Belakang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95325"/>
            <a:ext cx="975690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D" sz="2400" b="1" dirty="0" err="1"/>
              <a:t>Informasi</a:t>
            </a:r>
            <a:r>
              <a:rPr lang="en-ID" sz="2400" b="1" dirty="0"/>
              <a:t> </a:t>
            </a:r>
            <a:r>
              <a:rPr lang="en-ID" sz="2400" b="1" dirty="0" err="1"/>
              <a:t>banyak</a:t>
            </a:r>
            <a:r>
              <a:rPr lang="en-ID" sz="2400" b="1" dirty="0"/>
              <a:t>, </a:t>
            </a:r>
            <a:r>
              <a:rPr lang="en-ID" sz="2400" b="1" dirty="0" err="1"/>
              <a:t>tapi</a:t>
            </a:r>
            <a:r>
              <a:rPr lang="en-ID" sz="2400" b="1" dirty="0"/>
              <a:t> </a:t>
            </a:r>
            <a:r>
              <a:rPr lang="en-ID" sz="2400" b="1" dirty="0" err="1"/>
              <a:t>susah</a:t>
            </a:r>
            <a:r>
              <a:rPr lang="en-ID" sz="2400" b="1" dirty="0"/>
              <a:t> </a:t>
            </a:r>
            <a:r>
              <a:rPr lang="en-ID" sz="2400" b="1" dirty="0" err="1"/>
              <a:t>ditemukan</a:t>
            </a:r>
            <a:r>
              <a:rPr lang="en-ID" sz="2400" b="1" dirty="0"/>
              <a:t> </a:t>
            </a:r>
            <a:r>
              <a:rPr lang="en-ID" sz="2400" b="1" dirty="0" err="1"/>
              <a:t>karena</a:t>
            </a:r>
            <a:r>
              <a:rPr lang="en-ID" sz="2400" b="1" dirty="0"/>
              <a:t> </a:t>
            </a:r>
            <a:r>
              <a:rPr lang="en-ID" sz="2400" b="1" dirty="0" err="1"/>
              <a:t>tersebar</a:t>
            </a:r>
            <a:r>
              <a:rPr lang="en-ID" sz="2400" b="1" dirty="0"/>
              <a:t> di </a:t>
            </a:r>
            <a:r>
              <a:rPr lang="en-ID" sz="2400" b="1" dirty="0" err="1"/>
              <a:t>berbagai</a:t>
            </a:r>
            <a:r>
              <a:rPr lang="en-ID" sz="2400" b="1" dirty="0"/>
              <a:t> </a:t>
            </a:r>
            <a:r>
              <a:rPr lang="en-ID" sz="2400" b="1" dirty="0" err="1"/>
              <a:t>sumber</a:t>
            </a:r>
            <a:r>
              <a:rPr lang="en-ID" sz="2400" b="1" dirty="0"/>
              <a:t>.</a:t>
            </a:r>
            <a:endParaRPr sz="24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71575" y="2695575"/>
            <a:ext cx="6338292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 dirty="0" err="1">
                <a:solidFill>
                  <a:srgbClr val="0F172A"/>
                </a:solidFill>
                <a:latin typeface="Plus Jakarta Sans"/>
              </a:rPr>
              <a:t>Jenis</a:t>
            </a:r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Plus Jakarta Sans"/>
              </a:rPr>
              <a:t>Informasi</a:t>
            </a:r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 di </a:t>
            </a:r>
            <a:r>
              <a:rPr sz="1350" b="1" i="0" u="none" dirty="0" err="1">
                <a:solidFill>
                  <a:srgbClr val="0F172A"/>
                </a:solidFill>
                <a:latin typeface="Plus Jakarta Sans"/>
              </a:rPr>
              <a:t>Tangsel</a:t>
            </a:r>
            <a:endParaRPr sz="135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53225" y="4096494"/>
            <a:ext cx="4695825" cy="1019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Akar Permasalahan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8250" y="3181350"/>
            <a:ext cx="2100262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 err="1">
                <a:solidFill>
                  <a:srgbClr val="334155"/>
                </a:solidFill>
                <a:latin typeface="Plus Jakarta Sans"/>
              </a:rPr>
              <a:t>Berita</a:t>
            </a:r>
            <a:r>
              <a:rPr sz="1125" b="1" i="0" u="none" dirty="0">
                <a:solidFill>
                  <a:srgbClr val="334155"/>
                </a:solidFill>
                <a:latin typeface="Plus Jakarta Sans"/>
              </a:rPr>
              <a:t> Kota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24287" y="3181350"/>
            <a:ext cx="2100262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Event &amp; Festival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8250" y="3705225"/>
            <a:ext cx="2100262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 err="1">
                <a:solidFill>
                  <a:srgbClr val="334155"/>
                </a:solidFill>
                <a:latin typeface="Plus Jakarta Sans"/>
              </a:rPr>
              <a:t>Fasilitas</a:t>
            </a:r>
            <a:r>
              <a:rPr sz="1125" b="1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sz="1125" b="1" i="0" u="none" dirty="0" err="1">
                <a:solidFill>
                  <a:srgbClr val="334155"/>
                </a:solidFill>
                <a:latin typeface="Plus Jakarta Sans"/>
              </a:rPr>
              <a:t>Olahraga</a:t>
            </a:r>
            <a:endParaRPr sz="1125" b="1" i="0" u="none" dirty="0">
              <a:solidFill>
                <a:srgbClr val="334155"/>
              </a:solidFill>
              <a:latin typeface="Plus Jakarta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824287" y="3705225"/>
            <a:ext cx="2100262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Kuliner &amp; Cafe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8250" y="4229100"/>
            <a:ext cx="2100262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Layanan Kesehatan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24287" y="4229100"/>
            <a:ext cx="2100262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UMKM Lokal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8250" y="4752975"/>
            <a:ext cx="2100262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Komunitas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24287" y="4752975"/>
            <a:ext cx="2100262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Informasi Publik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53225" y="2589907"/>
            <a:ext cx="54387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91B1B"/>
                </a:solidFill>
                <a:latin typeface="Plus Jakarta Sans"/>
              </a:rPr>
              <a:t>Kondisi Saat Ini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3225" y="2847082"/>
            <a:ext cx="4733925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7F1D1D"/>
                </a:solidFill>
                <a:latin typeface="Plus Jakarta Sans"/>
              </a:rPr>
              <a:t>Masyarakat harus berpindah-pindah platform (Medsos, Maps, Portal Berita, Kanal Resmi) untuk mencari kebutuhan lokal yang berbeda.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53225" y="4372719"/>
            <a:ext cx="469582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1" i="0" u="none">
                <a:solidFill>
                  <a:srgbClr val="FFFFFF"/>
                </a:solidFill>
                <a:latin typeface="Plus Jakarta Sans"/>
              </a:rPr>
              <a:t>Informasi bukan tidak ada, melainkan tersebar dan belum terintegrasi dalam satu pengalaman pencarian.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43025"/>
            <a:ext cx="10972800" cy="1076325"/>
          </a:xfrm>
          <a:prstGeom prst="roundRect">
            <a:avLst>
              <a:gd name="adj" fmla="val 141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879651"/>
            <a:ext cx="2600325" cy="1327546"/>
          </a:xfrm>
          <a:prstGeom prst="roundRect">
            <a:avLst>
              <a:gd name="adj" fmla="val 860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0425" y="3879651"/>
            <a:ext cx="2600325" cy="1327546"/>
          </a:xfrm>
          <a:prstGeom prst="roundRect">
            <a:avLst>
              <a:gd name="adj" fmla="val 860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3879651"/>
            <a:ext cx="2600325" cy="1327546"/>
          </a:xfrm>
          <a:prstGeom prst="roundRect">
            <a:avLst>
              <a:gd name="adj" fmla="val 860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82075" y="3879651"/>
            <a:ext cx="2600325" cy="1327546"/>
          </a:xfrm>
          <a:prstGeom prst="roundRect">
            <a:avLst>
              <a:gd name="adj" fmla="val 860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9625" y="1828800"/>
            <a:ext cx="1152525" cy="390525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967037" y="1828800"/>
            <a:ext cx="1400175" cy="390525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372100" y="1828800"/>
            <a:ext cx="1428750" cy="390525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805737" y="1828800"/>
            <a:ext cx="1504950" cy="390525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315575" y="1828800"/>
            <a:ext cx="1066800" cy="390525"/>
          </a:xfrm>
          <a:prstGeom prst="roundRect">
            <a:avLst>
              <a:gd name="adj" fmla="val 1951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918" y="1947862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981" y="1947862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618" y="1947862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6456" y="1947862"/>
            <a:ext cx="1333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4108251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925" y="4108251"/>
            <a:ext cx="22860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4108251"/>
            <a:ext cx="285750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2575" y="4108251"/>
            <a:ext cx="228600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02. Urgensi Proyek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Kenapa Memilih TANGSEL LIA?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1543050"/>
            <a:ext cx="272991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sv-SE" sz="1050" b="1" dirty="0"/>
              <a:t>Peluang Menghubungkan Berbagai Layanan Kota</a:t>
            </a:r>
            <a:endParaRPr lang="en-ID" sz="1050" b="1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17959" y="1924050"/>
            <a:ext cx="1135856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Masyarakat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44415" y="1924050"/>
            <a:ext cx="144541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Informasi Lokal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5906" y="1924050"/>
            <a:ext cx="148113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Tempat &amp; Bisnis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0018" y="1924050"/>
            <a:ext cx="157638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Event &amp; Aktivitas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25100" y="1924050"/>
            <a:ext cx="1047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2563EB"/>
                </a:solidFill>
                <a:latin typeface="Plus Jakarta Sans"/>
              </a:rPr>
              <a:t>Partisipasi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" y="4432101"/>
            <a:ext cx="291286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Kebutuhan Riil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" y="4670226"/>
            <a:ext cx="23145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Sangat dekat dengan aktivitas harian masyarakat Tangsel.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90925" y="4432101"/>
            <a:ext cx="291286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Ragam Informasi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90925" y="4670226"/>
            <a:ext cx="23145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Menampung berbagai kategori kebutuhan lokal masyarakat.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1750" y="4432101"/>
            <a:ext cx="291286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Koneksi Bisnis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1750" y="4670226"/>
            <a:ext cx="23145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Menghubungkan warga dengan UMKM dan usaha lokal.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2575" y="4432101"/>
            <a:ext cx="291286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Fokus Terarah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2575" y="4670226"/>
            <a:ext cx="23145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Ruang lingkup penelitian spesifik wilayah Tangsel.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28912"/>
            <a:ext cx="2600325" cy="2286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2728912"/>
            <a:ext cx="2600325" cy="2286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728912"/>
            <a:ext cx="2600325" cy="2286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2728912"/>
            <a:ext cx="2600325" cy="2286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03. Analisis Masalah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Empat Masalah Utama Yang Ditemukan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005137"/>
            <a:ext cx="2143125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4138612"/>
            <a:ext cx="21431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Data dan informasi publik berceceran di berbagai platform digital terpisah.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6650" y="3005137"/>
            <a:ext cx="2143125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6650" y="4138612"/>
            <a:ext cx="21431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Warga terpaksa membuka banyak aplikasi untuk kebutuhan yang berbeda.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7475" y="3005137"/>
            <a:ext cx="2143125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7475" y="4138612"/>
            <a:ext cx="21431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Belum ada direktori tunggal yang memadukan berita, event, &amp; tempat.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8300" y="3005137"/>
            <a:ext cx="2143125" cy="676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8300" y="4138612"/>
            <a:ext cx="21431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Kurangnya kanal terpadu bagi warga untuk melapor dan memantau masalah.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3462337"/>
            <a:ext cx="268783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Informasi Tersebar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6650" y="3462337"/>
            <a:ext cx="268783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Akses Tidak Praktis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7475" y="3462337"/>
            <a:ext cx="268783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Pencarian Terpisah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8300" y="3462337"/>
            <a:ext cx="268783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Partisipasi Terbatas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75619"/>
            <a:ext cx="10972800" cy="619125"/>
          </a:xfrm>
          <a:prstGeom prst="roundRect">
            <a:avLst>
              <a:gd name="adj" fmla="val 1846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347144"/>
            <a:ext cx="10972800" cy="834330"/>
          </a:xfrm>
          <a:prstGeom prst="roundRect">
            <a:avLst>
              <a:gd name="adj" fmla="val 1369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333875"/>
            <a:ext cx="10972800" cy="834330"/>
          </a:xfrm>
          <a:prstGeom prst="roundRect">
            <a:avLst>
              <a:gd name="adj" fmla="val 1369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575619"/>
            <a:ext cx="38100" cy="6191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347144"/>
            <a:ext cx="38100" cy="83433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333875"/>
            <a:ext cx="38100" cy="83433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04. Rumusan Masalah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Fokus Pertanyaan Penelitian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2766119"/>
            <a:ext cx="5715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Plus Jakarta Sans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2550" y="2771775"/>
            <a:ext cx="10839450" cy="226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1" i="0" u="none">
                <a:solidFill>
                  <a:srgbClr val="1E293B"/>
                </a:solidFill>
                <a:latin typeface="Plus Jakarta Sans"/>
              </a:rPr>
              <a:t>Bagaimana mempermudah masyarakat memperoleh informasi &amp; aktivitas lokal Tangsel yang saat ini tersebar di berbagai kanal?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645247"/>
            <a:ext cx="56420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Plus Jakarta Sans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5257" y="3537644"/>
            <a:ext cx="10103792" cy="45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1" i="0" u="none">
                <a:solidFill>
                  <a:srgbClr val="1E293B"/>
                </a:solidFill>
                <a:latin typeface="Plus Jakarta Sans"/>
              </a:rPr>
              <a:t>Bagaimana menyediakan akses terintegrasi untuk berita, event, olahraga, kuliner, UMKM, hingga layanan publik dalam satu platform?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631977"/>
            <a:ext cx="56584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Plus Jakarta Sans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6894" y="4524375"/>
            <a:ext cx="10102155" cy="45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1" i="0" u="none">
                <a:solidFill>
                  <a:srgbClr val="1E293B"/>
                </a:solidFill>
                <a:latin typeface="Plus Jakarta Sans"/>
              </a:rPr>
              <a:t>Bagaimana menyediakan sarana interaktif agar masyarakat dapat menyampaikan dan memantau permasalahan lingkungan sekitar?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38412"/>
            <a:ext cx="3505200" cy="2667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538412"/>
            <a:ext cx="3505200" cy="2667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538412"/>
            <a:ext cx="3505200" cy="2667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852737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285273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285273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2976562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7262" y="2976562"/>
            <a:ext cx="23812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6775" y="2976562"/>
            <a:ext cx="26670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05. Tujuan Penelitian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Target Capaian Pengembangan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462337"/>
            <a:ext cx="37754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Kemudahan Akses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833812"/>
            <a:ext cx="2971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Mempermudah masyarakat menemukan seluruh kebutuhan aktivitas lokal melalui satu pintu.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462337"/>
            <a:ext cx="37754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Integrasi Layanan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3833812"/>
            <a:ext cx="2971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Menyatukan 9 entitas data lokal (Berita, Event, Kuliner, UMKM, Komunitas, dll) secara terpusat.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462337"/>
            <a:ext cx="37754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Kanal Partisipasi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3833812"/>
            <a:ext cx="2971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Menyediakan fitur Laporan Warga transparan untuk memantau masalah lingkungan.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63517" y="2824162"/>
            <a:ext cx="2833241" cy="952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749158" y="2824162"/>
            <a:ext cx="2833241" cy="952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63517" y="3929062"/>
            <a:ext cx="2833241" cy="952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749158" y="3929062"/>
            <a:ext cx="2833241" cy="952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28862"/>
            <a:ext cx="4849117" cy="304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06. Solusi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TANGSEL LIA — Empat Pilar Utama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3542" y="3024187"/>
            <a:ext cx="304148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63542" y="3233737"/>
            <a:ext cx="252844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Berita, Informasi Publik, &amp; Layanan Kesehatan.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9183" y="3024187"/>
            <a:ext cx="304148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49183" y="3233737"/>
            <a:ext cx="252844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Kuliner, Coffee Shop, UMKM, &amp; Tempat Olahraga.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3542" y="4129087"/>
            <a:ext cx="304148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ACTIVITY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3542" y="4338637"/>
            <a:ext cx="252844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Event Lokal, Komunitas, &amp; Agenda Olahraga.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9183" y="4129087"/>
            <a:ext cx="304148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PARTICIPATION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49183" y="4338637"/>
            <a:ext cx="2528441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Laporan Warga, Review Tempat, &amp; Bookmark.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624262"/>
            <a:ext cx="1803945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813595" y="3538537"/>
            <a:ext cx="1803945" cy="66675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17591" y="3471862"/>
            <a:ext cx="2157114" cy="800100"/>
          </a:xfrm>
          <a:prstGeom prst="roundRect">
            <a:avLst>
              <a:gd name="adj" fmla="val 14285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574756" y="3538537"/>
            <a:ext cx="1803945" cy="66675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778751" y="3538537"/>
            <a:ext cx="1803945" cy="666750"/>
          </a:xfrm>
          <a:prstGeom prst="roundRect">
            <a:avLst>
              <a:gd name="adj" fmla="val 17142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945" y="3795712"/>
            <a:ext cx="952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941" y="3795712"/>
            <a:ext cx="952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7106" y="3795712"/>
            <a:ext cx="952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1101" y="3795712"/>
            <a:ext cx="9525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07. Alur Keberadaan Proyek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Bagaimana TANGSEL LIA Menjawab Masalah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8452" y="3662362"/>
            <a:ext cx="2315393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8FAFC"/>
                </a:solidFill>
                <a:latin typeface="Plus Jakarta Sans"/>
              </a:rPr>
              <a:t>SOLUSI TUNGGAL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513" y="3786187"/>
            <a:ext cx="185011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Info Tangsel Tersebar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0508" y="3700462"/>
            <a:ext cx="185011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Pencarian Tidak Praktis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0573" y="3881437"/>
            <a:ext cx="2331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TANGSEL LIA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1669" y="3700462"/>
            <a:ext cx="185011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Info + Tempat + Aktivitas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55664" y="3700462"/>
            <a:ext cx="185011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65F46"/>
                </a:solidFill>
                <a:latin typeface="Plus Jakarta Sans"/>
              </a:rPr>
              <a:t>Warga Mudah Menemukan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08. Ekosistem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Aktor Terlibat Dalam Ekosistem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2D19C33-9110-434A-A62E-072EC89F7F14}"/>
              </a:ext>
            </a:extLst>
          </p:cNvPr>
          <p:cNvGrpSpPr/>
          <p:nvPr/>
        </p:nvGrpSpPr>
        <p:grpSpPr>
          <a:xfrm>
            <a:off x="3070027" y="2728912"/>
            <a:ext cx="3025973" cy="2286000"/>
            <a:chOff x="609600" y="2728912"/>
            <a:chExt cx="3025973" cy="2286000"/>
          </a:xfrm>
        </p:grpSpPr>
        <p:sp>
          <p:nvSpPr>
            <p:cNvPr id="2" name="Rounded Rectangle 1"/>
            <p:cNvSpPr/>
            <p:nvPr/>
          </p:nvSpPr>
          <p:spPr>
            <a:xfrm>
              <a:off x="609600" y="2728912"/>
              <a:ext cx="2600325" cy="2286000"/>
            </a:xfrm>
            <a:prstGeom prst="roundRect">
              <a:avLst>
                <a:gd name="adj" fmla="val 6666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pic>
          <p:nvPicPr>
            <p:cNvPr id="6" name="Picture 5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7725" y="3014662"/>
              <a:ext cx="266700" cy="26670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847725" y="3414712"/>
              <a:ext cx="2787848" cy="2190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50" b="1" i="0" u="none" dirty="0">
                  <a:solidFill>
                    <a:srgbClr val="0F172A"/>
                  </a:solidFill>
                  <a:latin typeface="Plus Jakarta Sans"/>
                </a:rPr>
                <a:t>Masyarakat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47725" y="3709987"/>
              <a:ext cx="2219325" cy="3732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sz="1050" b="0" i="0" u="none" dirty="0">
                  <a:solidFill>
                    <a:srgbClr val="64748B"/>
                  </a:solidFill>
                  <a:latin typeface="Plus Jakarta Sans"/>
                </a:rPr>
                <a:t>Cari info, </a:t>
              </a:r>
              <a:r>
                <a:rPr sz="1050" b="0" i="0" u="none" dirty="0" err="1">
                  <a:solidFill>
                    <a:srgbClr val="64748B"/>
                  </a:solidFill>
                  <a:latin typeface="Plus Jakarta Sans"/>
                </a:rPr>
                <a:t>kaji</a:t>
              </a:r>
              <a:r>
                <a:rPr sz="1050" b="0" i="0" u="none" dirty="0">
                  <a:solidFill>
                    <a:srgbClr val="64748B"/>
                  </a:solidFill>
                  <a:latin typeface="Plus Jakarta Sans"/>
                </a:rPr>
                <a:t> event, </a:t>
              </a:r>
              <a:r>
                <a:rPr sz="1050" b="0" i="0" u="none" dirty="0" err="1">
                  <a:solidFill>
                    <a:srgbClr val="64748B"/>
                  </a:solidFill>
                  <a:latin typeface="Plus Jakarta Sans"/>
                </a:rPr>
                <a:t>beri</a:t>
              </a:r>
              <a:r>
                <a:rPr sz="1050" b="0" i="0" u="none" dirty="0">
                  <a:solidFill>
                    <a:srgbClr val="64748B"/>
                  </a:solidFill>
                  <a:latin typeface="Plus Jakarta Sans"/>
                </a:rPr>
                <a:t> </a:t>
              </a:r>
              <a:r>
                <a:rPr sz="1050" b="0" i="0" u="none" dirty="0" err="1">
                  <a:solidFill>
                    <a:srgbClr val="64748B"/>
                  </a:solidFill>
                  <a:latin typeface="Plus Jakarta Sans"/>
                </a:rPr>
                <a:t>ulasan</a:t>
              </a:r>
              <a:r>
                <a:rPr sz="1050" b="0" i="0" u="none" dirty="0">
                  <a:solidFill>
                    <a:srgbClr val="64748B"/>
                  </a:solidFill>
                  <a:latin typeface="Plus Jakarta Sans"/>
                </a:rPr>
                <a:t>, &amp; </a:t>
              </a:r>
              <a:r>
                <a:rPr sz="1050" b="0" i="0" u="none" dirty="0" err="1">
                  <a:solidFill>
                    <a:srgbClr val="64748B"/>
                  </a:solidFill>
                  <a:latin typeface="Plus Jakarta Sans"/>
                </a:rPr>
                <a:t>buat</a:t>
              </a:r>
              <a:r>
                <a:rPr sz="1050" b="0" i="0" u="none" dirty="0">
                  <a:solidFill>
                    <a:srgbClr val="64748B"/>
                  </a:solidFill>
                  <a:latin typeface="Plus Jakarta Sans"/>
                </a:rPr>
                <a:t> </a:t>
              </a:r>
              <a:r>
                <a:rPr sz="1050" b="0" i="0" u="none" dirty="0" err="1">
                  <a:solidFill>
                    <a:srgbClr val="64748B"/>
                  </a:solidFill>
                  <a:latin typeface="Plus Jakarta Sans"/>
                </a:rPr>
                <a:t>laporan</a:t>
              </a:r>
              <a:r>
                <a:rPr sz="1050" b="0" i="0" u="none" dirty="0">
                  <a:solidFill>
                    <a:srgbClr val="64748B"/>
                  </a:solidFill>
                  <a:latin typeface="Plus Jakarta Sans"/>
                </a:rPr>
                <a:t> </a:t>
              </a:r>
              <a:r>
                <a:rPr sz="1050" b="0" i="0" u="none" dirty="0" err="1">
                  <a:solidFill>
                    <a:srgbClr val="64748B"/>
                  </a:solidFill>
                  <a:latin typeface="Plus Jakarta Sans"/>
                </a:rPr>
                <a:t>warga</a:t>
              </a:r>
              <a:r>
                <a:rPr sz="1050" b="0" i="0" u="none" dirty="0">
                  <a:solidFill>
                    <a:srgbClr val="64748B"/>
                  </a:solidFill>
                  <a:latin typeface="Plus Jakarta Sans"/>
                </a:rPr>
                <a:t>.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64B1BD9-969C-49F1-B229-25AAE83E7CE3}"/>
              </a:ext>
            </a:extLst>
          </p:cNvPr>
          <p:cNvGrpSpPr/>
          <p:nvPr/>
        </p:nvGrpSpPr>
        <p:grpSpPr>
          <a:xfrm>
            <a:off x="6400800" y="2728912"/>
            <a:ext cx="3025973" cy="2286000"/>
            <a:chOff x="8982075" y="2728912"/>
            <a:chExt cx="3025973" cy="2286000"/>
          </a:xfrm>
        </p:grpSpPr>
        <p:sp>
          <p:nvSpPr>
            <p:cNvPr id="5" name="Rounded Rectangle 4"/>
            <p:cNvSpPr/>
            <p:nvPr/>
          </p:nvSpPr>
          <p:spPr>
            <a:xfrm>
              <a:off x="8982075" y="2728912"/>
              <a:ext cx="2600325" cy="2286000"/>
            </a:xfrm>
            <a:prstGeom prst="roundRect">
              <a:avLst>
                <a:gd name="adj" fmla="val 6666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pic>
          <p:nvPicPr>
            <p:cNvPr id="9" name="Picture 8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20200" y="3014662"/>
              <a:ext cx="266700" cy="26670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9220200" y="3414712"/>
              <a:ext cx="2787848" cy="2190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50" b="1" i="0" u="none">
                  <a:solidFill>
                    <a:srgbClr val="0F172A"/>
                  </a:solidFill>
                  <a:latin typeface="Plus Jakarta Sans"/>
                </a:rPr>
                <a:t>Admin Platform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220200" y="3709987"/>
              <a:ext cx="2219325" cy="55989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sz="1050" b="0" i="0" u="none">
                  <a:solidFill>
                    <a:srgbClr val="64748B"/>
                  </a:solidFill>
                  <a:latin typeface="Plus Jakarta Sans"/>
                </a:rPr>
                <a:t>Kelola data, verifikasi akun, moderasi konten, &amp; teruskan laporan.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14612"/>
            <a:ext cx="2072580" cy="2476500"/>
          </a:xfrm>
          <a:prstGeom prst="roundRect">
            <a:avLst>
              <a:gd name="adj" fmla="val 55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834580" y="2614612"/>
            <a:ext cx="2072580" cy="2476500"/>
          </a:xfrm>
          <a:prstGeom prst="roundRect">
            <a:avLst>
              <a:gd name="adj" fmla="val 55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59560" y="2614612"/>
            <a:ext cx="2072729" cy="2476500"/>
          </a:xfrm>
          <a:prstGeom prst="roundRect">
            <a:avLst>
              <a:gd name="adj" fmla="val 55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284690" y="2614612"/>
            <a:ext cx="2072580" cy="2476500"/>
          </a:xfrm>
          <a:prstGeom prst="roundRect">
            <a:avLst>
              <a:gd name="adj" fmla="val 55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509670" y="2614612"/>
            <a:ext cx="2072729" cy="2476500"/>
          </a:xfrm>
          <a:prstGeom prst="roundRect">
            <a:avLst>
              <a:gd name="adj" fmla="val 55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814637"/>
            <a:ext cx="21907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605" y="2814637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9585" y="2814637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4715" y="2814637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9695" y="2814637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09. Arsitektur Modul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Fitur Utama TANGSEL LIA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3119437"/>
            <a:ext cx="21951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HOME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3395662"/>
            <a:ext cx="176778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Pencarian cepat, info Tangsel hari ini, headline berita, &amp; rekomendasi.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4605" y="3119437"/>
            <a:ext cx="21951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EXPLORE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4605" y="3395662"/>
            <a:ext cx="176778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Katalog Coffee Shop, Kuliner, Fasilitas Olahraga, Kesehatan, &amp; UMKM.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9585" y="3119437"/>
            <a:ext cx="219539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EVENT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9585" y="3395662"/>
            <a:ext cx="1767929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Agenda Festival, Seminar, Workshop, Bazaar, &amp; Komunitas.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4715" y="3119437"/>
            <a:ext cx="21951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BERITA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4715" y="3395662"/>
            <a:ext cx="176778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Warta Pemerintahan, Pendidikan, Ekonomi, Lifestyle, &amp; Lingkungan.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09695" y="3119437"/>
            <a:ext cx="219539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1E293B"/>
                </a:solidFill>
                <a:latin typeface="Plus Jakarta Sans"/>
              </a:rPr>
              <a:t>LAPORAN WARGA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09695" y="3395662"/>
            <a:ext cx="1767929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Plus Jakarta Sans"/>
              </a:rPr>
              <a:t>Kanal aduan jalan rusak, sampah, banjir, &amp; fasos-fasum.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63517" y="2714625"/>
            <a:ext cx="5818882" cy="657225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63517" y="3524250"/>
            <a:ext cx="5818882" cy="657225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63517" y="4333875"/>
            <a:ext cx="5818882" cy="657225"/>
          </a:xfrm>
          <a:prstGeom prst="roundRect">
            <a:avLst>
              <a:gd name="adj" fmla="val 173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63517" y="2714625"/>
            <a:ext cx="38100" cy="6572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63517" y="3524250"/>
            <a:ext cx="38100" cy="6572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63517" y="4333875"/>
            <a:ext cx="38100" cy="6572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28862"/>
            <a:ext cx="4849117" cy="304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10. User Journey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Bagaimana Warga Menggunakan Aplikasi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54017" y="2867025"/>
            <a:ext cx="623798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Skenario 1: Olahraga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4017" y="3048000"/>
            <a:ext cx="623798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Cari lapangan → Lihat info lokasi &amp; fasilitas → Langsung beraktivitas.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4017" y="3676650"/>
            <a:ext cx="623798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Skenario 2: Ikut Event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54017" y="3857625"/>
            <a:ext cx="623798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Eksplor acara akhir pekan → Cek jadwal &amp; lokasi → Hadiri kegiatan.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4017" y="4486275"/>
            <a:ext cx="623798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Skenario 3: Aduan Fasilitas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54017" y="4667250"/>
            <a:ext cx="623798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Temukan jalan rusak → Buat laporan photo-tag → Pantau status progres.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800475"/>
            <a:ext cx="10972800" cy="485775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1304925"/>
          <a:ext cx="10972799" cy="2266950"/>
        </p:xfrm>
        <a:graphic>
          <a:graphicData uri="http://schemas.openxmlformats.org/drawingml/2006/table">
            <a:tbl>
              <a:tblPr/>
              <a:tblGrid>
                <a:gridCol w="3039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3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39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Kategori Pengguna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Kebutuhan Utama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39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Masyarakat Utama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Akses informasi, eksplorasi tempat, event lokal, &amp; pelaporan aduan.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39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Pelaku Usaha / UMKM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Publikasi tempat usaha &amp; peningkatan eksposur konsumen lokal.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39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Komunitas / EO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Publikasi agenda kegiatan &amp; menjaring partisipan baru.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39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Admin &amp; Pengelola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Verifikasi data, moderasi konten, &amp; pengelolaan laporan aduan.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12. Matriks Pengguna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Target Pengguna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285750" y="3952875"/>
            <a:ext cx="12763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E40AF"/>
                </a:solidFill>
                <a:latin typeface="Plus Jakarta Sans"/>
              </a:rPr>
              <a:t>Fokus Utama: Warga Tangerang Selatan sebagai pengguna aktif harian platform.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94744"/>
            <a:ext cx="3530500" cy="1316087"/>
          </a:xfrm>
          <a:prstGeom prst="roundRect">
            <a:avLst>
              <a:gd name="adj" fmla="val 86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600" y="3194744"/>
            <a:ext cx="3530649" cy="1316087"/>
          </a:xfrm>
          <a:prstGeom prst="roundRect">
            <a:avLst>
              <a:gd name="adj" fmla="val 86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750" y="3194744"/>
            <a:ext cx="3530500" cy="1316087"/>
          </a:xfrm>
          <a:prstGeom prst="roundRect">
            <a:avLst>
              <a:gd name="adj" fmla="val 86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13. Batasan Penelitian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Ruang Lingkup Pengembangan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394769"/>
            <a:ext cx="410871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Modul Informasi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0625" y="3394769"/>
            <a:ext cx="410891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Modul Tempat &amp; Bisnis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1775" y="3394769"/>
            <a:ext cx="394022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Modul Aktivitas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670994"/>
            <a:ext cx="3913063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• Berita lokal Tangsel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884265"/>
            <a:ext cx="3913063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• Pengumuman publik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097535"/>
            <a:ext cx="3913063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• Layanan kesehatan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0625" y="3670994"/>
            <a:ext cx="3913249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• Coffee shop &amp; Kuliner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0625" y="3884265"/>
            <a:ext cx="3913249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• Lapangan olahraga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0625" y="4097535"/>
            <a:ext cx="3913249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• UMKM lokal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1775" y="3670994"/>
            <a:ext cx="3913063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• Agenda event kota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1775" y="3884265"/>
            <a:ext cx="3913063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• Jadwal kegiatan komunitas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47900"/>
            <a:ext cx="10972800" cy="973335"/>
          </a:xfrm>
          <a:prstGeom prst="roundRect">
            <a:avLst>
              <a:gd name="adj" fmla="val 117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304925"/>
            <a:ext cx="1733550" cy="714375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457450" y="1304925"/>
            <a:ext cx="1733550" cy="714375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05300" y="1304925"/>
            <a:ext cx="1733550" cy="714375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53150" y="1304925"/>
            <a:ext cx="1733550" cy="714375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01000" y="1304925"/>
            <a:ext cx="1733550" cy="714375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48850" y="1304925"/>
            <a:ext cx="1733550" cy="714375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2247900"/>
            <a:ext cx="38100" cy="97333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14. Metodologi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7598299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2400" b="1" i="0" u="none" dirty="0" err="1">
                <a:solidFill>
                  <a:srgbClr val="0F172A"/>
                </a:solidFill>
                <a:latin typeface="Plus Jakarta Sans"/>
              </a:rPr>
              <a:t>Siklus</a:t>
            </a:r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Plus Jakarta Sans"/>
              </a:rPr>
              <a:t>Pengembangan</a:t>
            </a:r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lang="en-ID" sz="2400" b="1" i="0" u="none" dirty="0">
                <a:solidFill>
                  <a:srgbClr val="0B192C"/>
                </a:solidFill>
                <a:latin typeface="Plus Jakarta Sans"/>
              </a:rPr>
              <a:t>Iterative &amp; Incremental Development</a:t>
            </a:r>
          </a:p>
          <a:p>
            <a:pPr algn="l"/>
            <a:endParaRPr sz="24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5306" y="1457325"/>
            <a:ext cx="1862137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2563EB"/>
                </a:solidFill>
                <a:latin typeface="Plus Jakarta Sa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3156" y="1457325"/>
            <a:ext cx="1862137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2563EB"/>
                </a:solidFill>
                <a:latin typeface="Plus Jakarta San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1006" y="1457325"/>
            <a:ext cx="1862137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2563EB"/>
                </a:solidFill>
                <a:latin typeface="Plus Jakarta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8856" y="1457325"/>
            <a:ext cx="1862137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2563EB"/>
                </a:solidFill>
                <a:latin typeface="Plus Jakarta San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706" y="1457325"/>
            <a:ext cx="1862137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2563EB"/>
                </a:solidFill>
                <a:latin typeface="Plus Jakarta Sans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556" y="1457325"/>
            <a:ext cx="1862137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2563EB"/>
                </a:solidFill>
                <a:latin typeface="Plus Jakarta Sans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2438400"/>
            <a:ext cx="113538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Alasan Memilih Metode Iterative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2657475"/>
            <a:ext cx="106489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Kompleksitas cakupan fitur TANGSEL LIA membutuhkan pengembangan bertahap agar sistem dapat terus dievaluasi dan disempurnakan berdasarkan umpan balik setiap iterasi.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5312" y="1704975"/>
            <a:ext cx="1762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Plus Jakarta Sans"/>
              </a:rPr>
              <a:t>Analisis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43162" y="1704975"/>
            <a:ext cx="1762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Plus Jakarta Sans"/>
              </a:rPr>
              <a:t>Perancangan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1012" y="1704975"/>
            <a:ext cx="1762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Plus Jakarta Sans"/>
              </a:rPr>
              <a:t>Implementasi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8862" y="1704975"/>
            <a:ext cx="1762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Plus Jakarta Sans"/>
              </a:rPr>
              <a:t>Pengujian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6712" y="1704975"/>
            <a:ext cx="1762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Plus Jakarta Sans"/>
              </a:rPr>
              <a:t>Evaluasi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34562" y="1704975"/>
            <a:ext cx="1762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E40AF"/>
                </a:solidFill>
                <a:latin typeface="Plus Jakarta Sans"/>
              </a:rPr>
              <a:t>Perbaikan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800725"/>
            <a:ext cx="10972800" cy="600075"/>
          </a:xfrm>
          <a:prstGeom prst="roundRect">
            <a:avLst>
              <a:gd name="adj" fmla="val 1904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066925"/>
            <a:ext cx="5410200" cy="552450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72200" y="2066925"/>
            <a:ext cx="5410200" cy="552450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295775"/>
            <a:ext cx="5410200" cy="552450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72200" y="4295775"/>
            <a:ext cx="5410200" cy="552450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2247900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175" y="2247900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4476750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175" y="4476750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0680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15. Indikator Keberhasilan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Output Yang Diharapkan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261937" y="5991225"/>
            <a:ext cx="127158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Plus Jakarta Sans"/>
              </a:rPr>
              <a:t>Output Akhir: Satu platform terpadu untuk Temukan, Terhubung, dan Beraktivitas di Tangsel.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375" y="2252662"/>
            <a:ext cx="3619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Kemudahan akses informasi lokal Tangsel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7975" y="2252662"/>
            <a:ext cx="42981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Integrasi berita, event, &amp; tempat dalam 1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375" y="4481512"/>
            <a:ext cx="3619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Dukungan promosi UMKM &amp; fasilitas lokal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7975" y="4481512"/>
            <a:ext cx="48815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Kanal Laporan Warga yang interaktif &amp; memantau status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876925"/>
            <a:ext cx="109728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810250" y="3514725"/>
            <a:ext cx="5715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876925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1685925"/>
            <a:ext cx="533400" cy="533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987" y="1819275"/>
            <a:ext cx="200025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20803" y="2409825"/>
            <a:ext cx="3150393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FFFFFF"/>
                </a:solidFill>
                <a:latin typeface="Plus Jakarta Sans"/>
              </a:rPr>
              <a:t>TANGSEL LIA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88593" y="3086100"/>
            <a:ext cx="421481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38BDF8"/>
                </a:solidFill>
                <a:latin typeface="Plus Jakarta Sans"/>
              </a:rPr>
              <a:t>“Temukan. Terhubung. Beraktivitas.”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4521" y="3829050"/>
            <a:ext cx="3662957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Plus Jakarta Sans"/>
              </a:rPr>
              <a:t>Terima Kasih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1468" y="4600575"/>
            <a:ext cx="3929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94A3B8"/>
                </a:solidFill>
                <a:latin typeface="Plus Jakarta Sans"/>
              </a:rPr>
              <a:t>Proposal Tugas Akhir — Teknik Informatika ITI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381000" y="6076950"/>
            <a:ext cx="12954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Institut Teknologi Indonesia — Tangerang Selatan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16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Plus Jakarta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8225"/>
            <a:ext cx="69294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E293B"/>
                </a:solidFill>
                <a:latin typeface="Plus Jakarta Sans"/>
              </a:rPr>
              <a:t>https://cms.sinarmasland.com/uploads/small_Impresa_Haus_BSD_CITY_1_250f289075.jpg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8250"/>
            <a:ext cx="29170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www.sinarmasland.com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09750"/>
            <a:ext cx="69532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E293B"/>
                </a:solidFill>
                <a:latin typeface="Plus Jakarta Sans"/>
              </a:rPr>
              <a:t>https://nnc-media.netralnews.com/2025/11/IMG-Netral-News-User-11993-1RCA2FVWM9.jpg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09775"/>
            <a:ext cx="24884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en.netralnews.com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930</Words>
  <Application>Microsoft Office PowerPoint</Application>
  <PresentationFormat>Widescreen</PresentationFormat>
  <Paragraphs>172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diko daen</cp:lastModifiedBy>
  <cp:revision>5</cp:revision>
  <dcterms:created xsi:type="dcterms:W3CDTF">2013-01-27T09:14:16Z</dcterms:created>
  <dcterms:modified xsi:type="dcterms:W3CDTF">2026-09-30T03:53:55Z</dcterms:modified>
  <cp:category/>
</cp:coreProperties>
</file>
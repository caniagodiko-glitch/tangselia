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Salam pembuka. Sampaikan bahwa presentasi ini menjelaskan cara membangun fitur berita pada aplikasi TANGSEL LIA: mulai dari tujuan, arsitektur, alur kerja otomatis, sampai tampilan dan pengujiannya.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Bacakan agenda secara singkat. Beri tahu dosen bahwa fokusnya adalah 'bagaimana cara membangun', bukan hanya 'apa fiturnya'.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dua jalur: otomatis (agregat) supaya halaman tidak pernah kosong, dan manual (editorial) supaya pengelola tetap bisa menulis berita sendiri.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perbedaan mendasar: editorial = karya redaksi sendiri; agregat = hasil pengambilan otomatis. Karena agregat berasal dari pihak lain, fitur sengaja mengunci agar tidak bisa diubah/disunting sembarangan.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Gambarkan arsitektur tiga lapis: frontend (Next.js), backend (Laravel), database (MySQL). Tambahkan peran scheduler (penjadwal) dan dua layanan eksternal: portal RSS dan AI Gemini.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bahwa parsing RSS sengaja memakai bawaan PHP (tanpa library tambahan) agar ringan dan mudah diaudit. AI bersifat opsional — ada fallback bila tidak tersedia.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slide inti. Telusuri tujuh langkah dari atas ke bawah. Tekankan tiga hal: anti-duplikat, sifat opsional AI dengan fallback, dan toleransi error per-sumber.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Perkenalkan istilah kiasan: 'dapur redaksi' dan tiap komponen adalah petugasnya. NewsFetcher = kordinator; FeedParser = penerjemah; dua resolver = pembuka tautan.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bahwa pemisahan tugas (service layer) membuat kode mudah dirawat. Contoh: mengganti penyedia AI cukup mengubah AISummarizer.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 berita = gudang berita. Tabel berita_sumber = daftar langganan portal sekaligus pemantauan kesehatannya (kapan terakhir diambil, berhasil atau gagal).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pemisahan jelas: endpoint publik bebas akses, endpoint admin butuh login dan harus berperan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jalur manual: admin menulis lewat dashboard. Sistem otomatis membuat slug, menandai sebagai editorial, dan menjaga slug lama saat diedit agar tautan tetap hidup.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halaman daftar dan halaman baca. Sebutkan bahwa filter berjalan lewat URL sehingga bisa dibagikan/di-bookmark. Panel admin memudahkan pemantauan sumber.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poin penting untuk dosen: sistem menghormati aturan situs lain (robots.txt), mencantumkan sumber, dan menyimpan API key dengan 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otomatisasi: halaman berita terus diperbarui tanpa intervensi manual, namun pengelola tetap bisa memicu proses kapan saja.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bahwa fitur diuji otomatis pada dua sisi: publik (tampilan &amp; filter) dan admin (hak akses &amp; pengelolaan). Ini membuktikan fitur berjalan benar dan 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Sampaikan secara berimbang: kelebihan di kiri, keterbatasan di kanan. Keterbatasan ini sekaligus menjadi dasar rencana pengembangan berikutnya.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arah pengembangan yang realistis dan bernilai, langsung menyambung dari keterbatasan yang baru saja disebutkan.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Rangkum lima poin utama. Tutup dengan menegaskan bahwa fitur ini tidak hanya berfungsi, tetapi juga dibangun dengan pertimbangan etika, keamanan, dan kemudahan pengembangan.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sesi tanya jawab. Siapkan jawaban untuk pertanyaan tentang robots.txt, keamanan API key, dan mengapa isi artikel agregat belum disimpan.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5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00584" cy="2286000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100584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FITUR BERITA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3000" b="1" i="0">
                <a:solidFill>
                  <a:srgbClr val="BFE3DD"/>
                </a:solidFill>
                <a:latin typeface="Segoe UI"/>
              </a:defRPr>
            </a:pPr>
            <a:r>
              <a:t>TANGSEL LIA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FFFFFF"/>
                </a:solidFill>
                <a:latin typeface="Segoe UI"/>
              </a:defRPr>
            </a:pPr>
            <a:r>
              <a:t>Bagaimana fitur berita dibangun: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FFFFFF"/>
                </a:solidFill>
                <a:latin typeface="Segoe UI"/>
              </a:defRPr>
            </a:pPr>
            <a:r>
              <a:t>agregasi RSS otomatis, perangkuman AI, dan berita editorial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749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 i="0">
                <a:solidFill>
                  <a:srgbClr val="BFE3DD"/>
                </a:solidFill>
                <a:latin typeface="Segoe UI"/>
              </a:defRPr>
            </a:pPr>
            <a:r>
              <a:t>Tangerang Selatan  ·  Proyek TANGSEL LIA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BFE3DD"/>
                </a:solidFill>
                <a:latin typeface="Segoe UI"/>
              </a:defRPr>
            </a:pPr>
            <a:r>
              <a:t>Disusun untuk presentasi proyek kepada dosen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ALUR PEMBAHASAN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Agenda Presentasi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Latar belakang dan tujuan fitur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Gambaran umum: dua jenis berita (editorial dan agregat)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Arsitektur sistem dan teknologi yang digunakan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Alur kerja: pipeline agregat otomatis dan alur editorial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Komponen backend dan kegunaannya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Struktur data dan endpoint API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Tampilan antarmuka pengguna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Keamanan, etika perayapan, dan pengujian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Keterbatasan dan rencana pengembangan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MENGAPA FITUR INI DIBUAT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Latar Belakang &amp; Tujuan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Warga Tangerang Selatan membutuhkan berita lokal yang terkurasi dalam satu tempat.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Informasi tersebar di banyak portal berita yang berbeda-beda.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025C53"/>
                </a:solidFill>
                <a:latin typeface="Segoe UI"/>
              </a:defRPr>
            </a:pPr>
            <a:r>
              <a:t>Tujuan fitur: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Mengumpulkan berita lokal secara otomatis dari banyak portal.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Meringkas berita panjang menjadi inti yang cepat dibaca.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Mengelompokkan berita ke kategori dan kecamatan secara otomatis.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Menyajikannya rapi, bisa dicari, dan bisa difilter.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Menyediakan jalur editorial bagi pengelola untuk menulis berita sendiri.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GAMBARAN UMUM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Dua Jenis Berita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107899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06240"/>
              </a:tblGrid>
              <a:tr h="603504"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Aspek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Berita Editorial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Berita Agregat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Penulis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Admin / pengelola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Sistem (otomatis)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Cara masuk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Diinput admin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Menarik RSS terjadwal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Isi konten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Ditulis penuh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Ringkasan + tautan sumber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Bisa diubah?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Ya (edit / hapus)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Tidak (terkunci)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Penanda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diringkas_oleh = editor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diringkas_oleh = feed / ai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50" b="0" i="1">
                <a:solidFill>
                  <a:srgbClr val="555F5E"/>
                </a:solidFill>
                <a:latin typeface="Segoe UI"/>
              </a:defRPr>
            </a:pPr>
            <a:r>
              <a:t>Berita agregat dikunci dari pengeditan karena bukan milik redaksi — hanya boleh diproses sistem.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BAGAIMANA BAGIAN-BAGIAN TERHUBUNG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Arsitektur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2148840" cy="1143000"/>
          </a:xfrm>
          <a:prstGeom prst="roundRect">
            <a:avLst/>
          </a:prstGeom>
          <a:solidFill>
            <a:srgbClr val="0D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Warga &amp; Admin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2944368"/>
            <a:ext cx="384048" cy="292608"/>
          </a:xfrm>
          <a:prstGeom prst="right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27248" y="2514600"/>
            <a:ext cx="2331720" cy="1143000"/>
          </a:xfrm>
          <a:prstGeom prst="round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Next.js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Tampilan &amp; filter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04688" y="2944368"/>
            <a:ext cx="384048" cy="292608"/>
          </a:xfrm>
          <a:prstGeom prst="right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34456" y="2514600"/>
            <a:ext cx="2788920" cy="1143000"/>
          </a:xfrm>
          <a:prstGeom prst="round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Laravel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Logika &amp; pipeline berita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69096" y="2944368"/>
            <a:ext cx="384048" cy="292608"/>
          </a:xfrm>
          <a:prstGeom prst="right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98864" y="2514600"/>
            <a:ext cx="2468880" cy="1143000"/>
          </a:xfrm>
          <a:prstGeom prst="roundRect">
            <a:avLst/>
          </a:prstGeom>
          <a:solidFill>
            <a:srgbClr val="01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MySQL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Penyimpanan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34456" y="1371600"/>
            <a:ext cx="2788920" cy="777240"/>
          </a:xfrm>
          <a:prstGeom prst="round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Scheduler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Segoe UI"/>
              </a:defRPr>
            </a:pPr>
            <a:r>
              <a:t>Menjalankan tiap jam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123176" y="2176272"/>
            <a:ext cx="292608" cy="292608"/>
          </a:xfrm>
          <a:prstGeom prst="down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4160520"/>
            <a:ext cx="2148840" cy="914400"/>
          </a:xfrm>
          <a:prstGeom prst="round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50" b="1" i="0">
                <a:solidFill>
                  <a:srgbClr val="1A1A1A"/>
                </a:solidFill>
                <a:latin typeface="Segoe UI"/>
              </a:defRPr>
            </a:pPr>
            <a:r>
              <a:t>Portal RSS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1A1A1A"/>
                </a:solidFill>
                <a:latin typeface="Segoe UI"/>
              </a:defRPr>
            </a:pPr>
            <a:r>
              <a:t>9 sumber berita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160520"/>
            <a:ext cx="2194560" cy="914400"/>
          </a:xfrm>
          <a:prstGeom prst="round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50" b="1" i="0">
                <a:solidFill>
                  <a:srgbClr val="1A1A1A"/>
                </a:solidFill>
                <a:latin typeface="Segoe UI"/>
              </a:defRPr>
            </a:pPr>
            <a:r>
              <a:t>Google Gemini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1A1A1A"/>
                </a:solidFill>
                <a:latin typeface="Segoe UI"/>
              </a:defRPr>
            </a:pPr>
            <a:r>
              <a:t>Perangkum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212080"/>
            <a:ext cx="4480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555F5E"/>
                </a:solidFill>
                <a:latin typeface="Segoe UI"/>
              </a:defRPr>
            </a:pPr>
            <a:r>
              <a:t>Layanan eksternal (internet)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50" b="0" i="0">
                <a:solidFill>
                  <a:srgbClr val="555F5E"/>
                </a:solidFill>
                <a:latin typeface="Segoe UI"/>
              </a:defRPr>
            </a:pPr>
            <a:r>
              <a:t>Alur: Browser meminta data ke Next.js, Next.js memanggil Laravel API, Laravel membaca/menulis MySQL. Scheduler memicu Laravel untuk menarik berita dari portal RSS dan (opsional) meringkas dengan AI Gemini.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TECH STACK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Teknologi yang Digunakan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5448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108960"/>
                <a:gridCol w="5760720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Lapisan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Teknologi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Backend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PHP 8.4 + Laravel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Eloquent, service layer, Sanctum, scheduler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Parsing RSS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SimpleXML (bawaan PHP)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Tanpa paket tambahan; RSS 2.0, Atom, RDF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HTTP Client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Laravel HTTP Client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Mengunduh feed dan artikel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AI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Google Gemini API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Perangkuman otomatis (opsional)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Frontend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Next.js (App Router)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Server components, filter via URL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Database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MySQL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Tabel berita &amp; berita_sumber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Pengujian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PHPUnit + Laravel Pint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Uji fitur dan perapian gaya kode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PIPELINE UTAMA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Alur Berita Agregat (Otomatis)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486400" cy="548640"/>
          </a:xfrm>
          <a:prstGeom prst="round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1   Scheduler tiap jam → artisan berita:fetch</a:t>
            </a:r>
          </a:p>
        </p:txBody>
      </p:sp>
      <p:sp>
        <p:nvSpPr>
          <p:cNvPr id="7" name="Down Arrow 6"/>
          <p:cNvSpPr/>
          <p:nvPr/>
        </p:nvSpPr>
        <p:spPr>
          <a:xfrm>
            <a:off x="3300984" y="2016252"/>
            <a:ext cx="256032" cy="146304"/>
          </a:xfrm>
          <a:prstGeom prst="down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67128"/>
            <a:ext cx="5486400" cy="548640"/>
          </a:xfrm>
          <a:prstGeom prst="roundRect">
            <a:avLst/>
          </a:prstGeom>
          <a:solidFill>
            <a:srgbClr val="0D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2   Unduh RSS dari 9 sumber yang aktif</a:t>
            </a:r>
          </a:p>
        </p:txBody>
      </p:sp>
      <p:sp>
        <p:nvSpPr>
          <p:cNvPr id="9" name="Down Arrow 8"/>
          <p:cNvSpPr/>
          <p:nvPr/>
        </p:nvSpPr>
        <p:spPr>
          <a:xfrm>
            <a:off x="3300984" y="2720340"/>
            <a:ext cx="256032" cy="146304"/>
          </a:xfrm>
          <a:prstGeom prst="down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871216"/>
            <a:ext cx="5486400" cy="548640"/>
          </a:xfrm>
          <a:prstGeom prst="round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3   FeedParser: ambil judul, link, tanggal, gambar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300984" y="3424428"/>
            <a:ext cx="256032" cy="146304"/>
          </a:xfrm>
          <a:prstGeom prst="down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575304"/>
            <a:ext cx="5486400" cy="548640"/>
          </a:xfrm>
          <a:prstGeom prst="roundRect">
            <a:avLst/>
          </a:prstGeom>
          <a:solidFill>
            <a:srgbClr val="0D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4   Buka link samaran &amp; baca nama penerbit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00984" y="4128515"/>
            <a:ext cx="256032" cy="146304"/>
          </a:xfrm>
          <a:prstGeom prst="down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279392"/>
            <a:ext cx="5486400" cy="548640"/>
          </a:xfrm>
          <a:prstGeom prst="round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5   Cek duplikat lewat url_asli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300984" y="4832603"/>
            <a:ext cx="256032" cy="146304"/>
          </a:xfrm>
          <a:prstGeom prst="down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983479"/>
            <a:ext cx="5486400" cy="548640"/>
          </a:xfrm>
          <a:prstGeom prst="roundRect">
            <a:avLst/>
          </a:prstGeom>
          <a:solidFill>
            <a:srgbClr val="0D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6   Ringkas AI (opsional) + kategorisasi otomatis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300984" y="5536691"/>
            <a:ext cx="256032" cy="146304"/>
          </a:xfrm>
          <a:prstGeom prst="down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5687567"/>
            <a:ext cx="5486400" cy="548640"/>
          </a:xfrm>
          <a:prstGeom prst="round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7   Simpan ke tabel berita (status: published)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463040"/>
            <a:ext cx="50292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1" i="0">
                <a:solidFill>
                  <a:srgbClr val="013F39"/>
                </a:solidFill>
                <a:latin typeface="Segoe UI"/>
              </a:defRPr>
            </a:pPr>
            <a:r>
              <a:t>Yang perlu dipahami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  <a:latin typeface="Segoe UI"/>
              </a:defRPr>
            </a:pPr>
            <a:r>
              <a:t>•  Maksimal 20 berita per sumber tiap kali jalan.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  <a:latin typeface="Segoe UI"/>
              </a:defRPr>
            </a:pPr>
            <a:r>
              <a:t>•  Anti-duplikat memakai url_asli — berita sama tidak masuk dua kali.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  <a:latin typeface="Segoe UI"/>
              </a:defRPr>
            </a:pPr>
            <a:r>
              <a:t>•  Tanpa API key AI, ringkasan tetap terisi dari feed (fallback).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  <a:latin typeface="Segoe UI"/>
              </a:defRPr>
            </a:pPr>
            <a:r>
              <a:t>•  Kategorisasi &amp; kecamatan memakai peta kata kunci di config.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  <a:latin typeface="Segoe UI"/>
              </a:defRPr>
            </a:pPr>
            <a:r>
              <a:t>•  Satu sumber gagal tidak menghentikan sumber lain.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PARA 'PETUGAS' DI DAPUR REDAKSI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Komponen Backend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54480"/>
          <a:ext cx="107899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680960"/>
              </a:tblGrid>
              <a:tr h="96012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Komponen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Kegunaan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NewsFetcher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Manajer lapangan: mengatur seluruh proses, batas 20 item/sumber, mencatat kesehatan sumber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FeedParser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Penerjemah katalog RSS → data rapi (judul, link, tanggal, ringkasan, gambar)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GoogleNewsResolver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Membaca nama &amp; URL penerbit dari label &lt;source&gt; Google News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BingLinkResolver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Membuka link samaran Bing News agar dapat alamat artikel asli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PERANGKUMAN &amp; PELABELAN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Komponen Backend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680960"/>
              </a:tblGrid>
              <a:tr h="10515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Komponen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Kegunaan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ArticleContentFetcher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Mengambil isi artikel asli; mematuhi robots.txt; identitas bot jelas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AISummarizer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Meringkas artikel via Google Gemini; bila gagal, mundur ke ringkasan feed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Categorizer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Memetakan kata kunci → kategori dan kecamatan (aturan deklaratif di config)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02920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555F5E"/>
                </a:solidFill>
                <a:latin typeface="Segoe UI"/>
              </a:defRPr>
            </a:pPr>
            <a:r>
              <a:t>Prinsip desain: setiap komponen punya satu tugas (single responsibility) sehingga mudah diuji, diganti, dan dikembangkan tanpa mengganggu bagian lain.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DUA TABEL INTI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Struktur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303520" cy="429768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82296" cy="4297680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00784"/>
            <a:ext cx="48463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13F39"/>
                </a:solidFill>
                <a:latin typeface="Segoe UI"/>
              </a:defRPr>
            </a:pPr>
            <a:r>
              <a:t>Tabel: berita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judul, slug, gambar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ringkasan, konten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tipe (editorial / agregat)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diringkas_oleh (feed / ai / editor)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sumber, sumber_url, url_asli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kategori_id, kecamatan_id, editor_id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status (draft / published / archived)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published_at, fetched_at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212080" cy="429768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82296" cy="4297680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700784"/>
            <a:ext cx="475488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13F39"/>
                </a:solidFill>
                <a:latin typeface="Segoe UI"/>
              </a:defRPr>
            </a:pPr>
            <a:r>
              <a:t>Tabel: berita_sumber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nama, jenis (rss / api / scraping)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feed_url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aktif (boolean)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last_fetched_at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last_status (ok / error)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last_error (pesan kegagalan)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item_count (jumlah item)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PINTU LAYANAN 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Endpoint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54480"/>
          <a:ext cx="10789919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39"/>
                <a:gridCol w="5669280"/>
              </a:tblGrid>
              <a:tr h="530352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Akses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Endpoint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Fungsi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Publik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GET /berita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Daftar berita + filter (kategori, kecamatan, sumber, tipe, q)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Publik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GET /berita/terbaru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Berita terbaru untuk sidebar / beranda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Publik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GET /berita/meta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Jumlah berita per kategori / kecamatan / sumber / tipe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Publik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GET /berita/{slug}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Detail satu berita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POST / PUT / DELETE /berita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Kelola berita editorial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POST /berita/refresh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Paksa tarik berita sekarang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GET /berita/sumber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Pantau kesehatan sumber RSS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50" b="0" i="1">
                <a:solidFill>
                  <a:srgbClr val="555F5E"/>
                </a:solidFill>
                <a:latin typeface="Segoe UI"/>
              </a:defRPr>
            </a:pPr>
            <a:r>
              <a:t>Endpoint admin dilindungi autentikasi (Sanctum) + middleware role:admin.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JALUR PENGELOLA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Alur Berita Editorial (Manual)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926080" cy="1005840"/>
          </a:xfrm>
          <a:prstGeom prst="roundRect">
            <a:avLst/>
          </a:prstGeom>
          <a:solidFill>
            <a:srgbClr val="0D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1  Admin login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ke dashboard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2221992"/>
            <a:ext cx="457200" cy="256032"/>
          </a:xfrm>
          <a:prstGeom prst="right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017520" cy="1005840"/>
          </a:xfrm>
          <a:prstGeom prst="roundRect">
            <a:avLst/>
          </a:prstGeom>
          <a:solidFill>
            <a:srgbClr val="0D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2  Isi form berita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judul, konten, gambar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98079" y="2221992"/>
            <a:ext cx="457200" cy="256032"/>
          </a:xfrm>
          <a:prstGeom prst="rightArrow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91840" cy="1005840"/>
          </a:xfrm>
          <a:prstGeom prst="round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3  Sistem simpan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tipe = editorial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defRPr sz="1400" b="0" i="0">
                <a:solidFill>
                  <a:srgbClr val="1A1A1A"/>
                </a:solidFill>
                <a:latin typeface="Segoe UI"/>
              </a:defRPr>
            </a:pPr>
            <a:r>
              <a:t>•  Slug dibuat otomatis dan unik; saat diubah, slug lama dipertahankan.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1400" b="0" i="0">
                <a:solidFill>
                  <a:srgbClr val="1A1A1A"/>
                </a:solidFill>
                <a:latin typeface="Segoe UI"/>
              </a:defRPr>
            </a:pPr>
            <a:r>
              <a:t>•  Status bisa draft atau published; published_at diisi saat terbit.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1400" b="0" i="0">
                <a:solidFill>
                  <a:srgbClr val="1A1A1A"/>
                </a:solidFill>
                <a:latin typeface="Segoe UI"/>
              </a:defRPr>
            </a:pPr>
            <a:r>
              <a:t>•  Hanya berita editorial yang boleh diubah atau dihapus.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1400" b="0" i="0">
                <a:solidFill>
                  <a:srgbClr val="1A1A1A"/>
                </a:solidFill>
                <a:latin typeface="Segoe UI"/>
              </a:defRPr>
            </a:pPr>
            <a:r>
              <a:t>•  Gambar yang diunggah disimpan di penyimpanan publik aplikasi.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YANG DILIHAT PENGGUNA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Tampilan Antarmuka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10789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772400"/>
              </a:tblGrid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Halaman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Isi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/berita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Berita utama + daftar berita + sidebar TERBARU + filter kategori + pencarian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/berita/{slug}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Halaman baca lengkap; berita agregat punya tautan ke sumber asli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Beranda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Section 'Berita Tangsel' berisi berita terbaru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Dashboard admin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Panel kesehatan sumber RSS + tombol 'Tarik Berita Sekarang'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12064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50" b="0" i="0">
                <a:solidFill>
                  <a:srgbClr val="555F5E"/>
                </a:solidFill>
                <a:latin typeface="Segoe UI"/>
              </a:defRPr>
            </a:pPr>
            <a:r>
              <a:t>Halaman dirakit di server (server components) dan mengambil data secara paralel — daftar, data filter, dan berita terbaru dalam satu kali permintaan.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TANGGUNG JAWAB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Keamanan &amp; Etika Perayapan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50" b="1" i="0">
                <a:solidFill>
                  <a:srgbClr val="025C53"/>
                </a:solidFill>
                <a:latin typeface="Segoe UI"/>
              </a:defRPr>
            </a:pPr>
            <a:r>
              <a:t>Keamanan akses: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50" b="0" i="0">
                <a:solidFill>
                  <a:srgbClr val="1A1A1A"/>
                </a:solidFill>
                <a:latin typeface="Segoe UI"/>
              </a:defRPr>
            </a:pPr>
            <a:r>
              <a:t>•  Endpoint admin dilindungi autentikasi Sanctum dan middleware role:admin.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50" b="0" i="0">
                <a:solidFill>
                  <a:srgbClr val="1A1A1A"/>
                </a:solidFill>
                <a:latin typeface="Segoe UI"/>
              </a:defRPr>
            </a:pPr>
            <a:r>
              <a:t>•  Kunci API AI diambil dari environment — tidak pernah disimpan di database.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50" b="1" i="0">
                <a:solidFill>
                  <a:srgbClr val="025C53"/>
                </a:solidFill>
                <a:latin typeface="Segoe UI"/>
              </a:defRPr>
            </a:pPr>
            <a:r>
              <a:t>Etika perayapan: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50" b="0" i="0">
                <a:solidFill>
                  <a:srgbClr val="1A1A1A"/>
                </a:solidFill>
                <a:latin typeface="Segoe UI"/>
              </a:defRPr>
            </a:pPr>
            <a:r>
              <a:t>•  Memeriksa robots.txt sebelum mengambil isi artikel pihak lain.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50" b="0" i="0">
                <a:solidFill>
                  <a:srgbClr val="1A1A1A"/>
                </a:solidFill>
                <a:latin typeface="Segoe UI"/>
              </a:defRPr>
            </a:pPr>
            <a:r>
              <a:t>•  Menggunakan identitas bot yang jelas: TANGSEL-LIA-Bot/1.0.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50" b="0" i="0">
                <a:solidFill>
                  <a:srgbClr val="1A1A1A"/>
                </a:solidFill>
                <a:latin typeface="Segoe UI"/>
              </a:defRPr>
            </a:pPr>
            <a:r>
              <a:t>•  Atribusi: nama dan tautan sumber disimpan dan ditampilkan.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50" b="0" i="0">
                <a:solidFill>
                  <a:srgbClr val="1A1A1A"/>
                </a:solidFill>
                <a:latin typeface="Segoe UI"/>
              </a:defRPr>
            </a:pPr>
            <a:r>
              <a:t>•  Anti-duplikat via url_asli agar tidak menyalin berita berulang.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BERJALAN SENDIRI TANPA ADMIN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Penjadwalan Otomatis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Dijadwalkan tiap jam melalui scheduler Laravel (routes/console.php).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Perintah: php artisan berita:fetch.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Bisa dipicu manual dari dashboard admin (tombol Tarik Berita Sekarang).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Bisa membatasi ke satu sumber tertentu untuk pengujian.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Setiap proses mencatat statistik: jumlah sumber, berita baru, dilewati, gagal.</a:t>
            </a:r>
          </a:p>
          <a:p>
            <a:pPr algn="l">
              <a:spcBef>
                <a:spcPts val="0"/>
              </a:spcBef>
              <a:spcAft>
                <a:spcPts val="1100"/>
              </a:spcAft>
              <a:defRPr sz="1600" b="0" i="0">
                <a:solidFill>
                  <a:srgbClr val="1A1A1A"/>
                </a:solidFill>
                <a:latin typeface="Segoe UI"/>
              </a:defRPr>
            </a:pPr>
            <a:r>
              <a:t>•  Status tiap sumber tersimpan di tabel berita_sumber untuk pemantauan.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BUKTI FITUR BERJALAN BENAR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Pengujian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0789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949440"/>
                <a:gridCol w="1097280"/>
              </a:tblGrid>
              <a:tr h="123444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Berkas Uji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Cakupan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Jumlah</a:t>
                      </a:r>
                    </a:p>
                  </a:txBody>
                  <a:tcPr marL="91440" marR="73152" marT="27432" marB="27432" anchor="ctr">
                    <a:solidFill>
                      <a:srgbClr val="025C53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BeritaPublikTest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Hanya berita terbit tampil; filter kategori/kecamatan/tipe/sumber/cari; detail &amp; 404; urutan terbaru; meta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91440" marR="73152" marT="27432" marB="27432" anchor="ctr">
                    <a:solidFill>
                      <a:srgbClr val="F1F6F5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BeritaAdminTest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Otorisasi (401/403); buat/ubah/hapus editorial; unggah gambar; agregat terkunci; refresh &amp; statistik; daftar sumber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754880"/>
            <a:ext cx="107899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13F39"/>
                </a:solidFill>
                <a:latin typeface="Segoe UI"/>
              </a:defRPr>
            </a:pPr>
            <a:r>
              <a:t>Total 16 pengujian khusus fitur berita.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A1A1A"/>
                </a:solidFill>
                <a:latin typeface="Segoe UI"/>
              </a:defRPr>
            </a:pPr>
            <a:r>
              <a:t>Dijalankan dengan:  php artisan test --filter=Berita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EVALUASI JUJUR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Kelebihan &amp; Keterbatasan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303520" cy="429768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82296" cy="4297680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00784"/>
            <a:ext cx="48463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13F39"/>
                </a:solidFill>
                <a:latin typeface="Segoe UI"/>
              </a:defRPr>
            </a:pPr>
            <a:r>
              <a:t>Kelebihan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Otomatis — tidak perlu menulis tiap hari.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Kategorisasi &amp; kecamatan otomatis.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Ringkasan AI dengan fallback aman.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Pemantauan kesehatan sumber berita.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Atribusi sumber jelas &amp; tertib etika.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Arsitektur berlapis, mudah dikembangkan.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212080" cy="429768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82296" cy="4297680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700784"/>
            <a:ext cx="475488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13F39"/>
                </a:solidFill>
                <a:latin typeface="Segoe UI"/>
              </a:defRPr>
            </a:pPr>
            <a:r>
              <a:t>Keterbatasan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Isi lengkap artikel agregat belum disimpan.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Link Google News tidak bisa diteruskan dari server.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Bergantung pada ketersediaan feed &amp; API AI.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Daftar berita belum berpaginasi penuh.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50" b="0" i="0">
                <a:solidFill>
                  <a:srgbClr val="1A1A1A"/>
                </a:solidFill>
                <a:latin typeface="Segoe UI"/>
              </a:defRPr>
            </a:pPr>
            <a:r>
              <a:t>•  Filter lanjutan belum semua tampil di UI.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LANGKAH SELANJUTNYA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Rencana Pengembangan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650" b="0" i="0">
                <a:solidFill>
                  <a:srgbClr val="1A1A1A"/>
                </a:solidFill>
                <a:latin typeface="Segoe UI"/>
              </a:defRPr>
            </a:pPr>
            <a:r>
              <a:t>•  Menyimpan isi artikel agregat agar bisa dibaca penuh di dalam aplikasi.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650" b="0" i="0">
                <a:solidFill>
                  <a:srgbClr val="1A1A1A"/>
                </a:solidFill>
                <a:latin typeface="Segoe UI"/>
              </a:defRPr>
            </a:pPr>
            <a:r>
              <a:t>•  Menambah navigasi 'Berita Selanjutnya' pada daftar (paginasi).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650" b="0" i="0">
                <a:solidFill>
                  <a:srgbClr val="1A1A1A"/>
                </a:solidFill>
                <a:latin typeface="Segoe UI"/>
              </a:defRPr>
            </a:pPr>
            <a:r>
              <a:t>•  Melengkapi filter tipe, kecamatan, dan sumber di antarmuka.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650" b="0" i="0">
                <a:solidFill>
                  <a:srgbClr val="1A1A1A"/>
                </a:solidFill>
                <a:latin typeface="Segoe UI"/>
              </a:defRPr>
            </a:pPr>
            <a:r>
              <a:t>•  Membuat panel admin untuk menulis berita (CRUD) di dashboard.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650" b="0" i="0">
                <a:solidFill>
                  <a:srgbClr val="1A1A1A"/>
                </a:solidFill>
                <a:latin typeface="Segoe UI"/>
              </a:defRPr>
            </a:pPr>
            <a:r>
              <a:t>•  Menambah section 'Berita Lain' pada halaman detail.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650" b="0" i="0">
                <a:solidFill>
                  <a:srgbClr val="1A1A1A"/>
                </a:solidFill>
                <a:latin typeface="Segoe UI"/>
              </a:defRPr>
            </a:pPr>
            <a:r>
              <a:t>•  Memperluas cakupan sumber berita lokal.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25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972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BFE3DD"/>
                </a:solidFill>
                <a:latin typeface="Segoe UI"/>
              </a:defRPr>
            </a:pPr>
            <a:r>
              <a:t>POIN UTAMA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Segoe UI"/>
              </a:defRPr>
            </a:pPr>
            <a: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417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555F5E"/>
                </a:solidFill>
                <a:latin typeface="Segoe UI"/>
              </a:defRPr>
            </a:pPr>
            <a:r>
              <a:t>TANGSEL LIA  ·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Fitur berita menggabungkan agregasi RSS otomatis dengan berita editorial manual.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Arsitektur berlapis (service) membuat kode mudah dirawat dan dikembangkan.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Etika perayapan dan atribusi sumber diperhatikan sejak desain.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Fitur telah diuji otomatis dan terlindungi dari sisi keamanan akses.</a:t>
            </a:r>
          </a:p>
          <a:p>
            <a:pPr algn="l">
              <a:spcBef>
                <a:spcPts val="0"/>
              </a:spcBef>
              <a:spcAft>
                <a:spcPts val="1300"/>
              </a:spcAft>
              <a:defRPr sz="1700" b="0" i="0">
                <a:solidFill>
                  <a:srgbClr val="1A1A1A"/>
                </a:solidFill>
                <a:latin typeface="Segoe UI"/>
              </a:defRPr>
            </a:pPr>
            <a:r>
              <a:t>•  Siap dikembangkan ke arah konten penuh dan paginasi.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5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BFE3DD"/>
                </a:solidFill>
                <a:latin typeface="Segoe UI"/>
              </a:defRPr>
            </a:pPr>
            <a:r>
              <a:t>Silakan bertanya — saya siap menjelaskan bagian mana pun.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